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7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28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D9D4F7">
              <a:alpha val="70000"/>
            </a:srgbClr>
          </a:solidFill>
          <a:ln w="12700">
            <a:solidFill>
              <a:srgbClr val="D9D4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8F5EE">
              <a:alpha val="70000"/>
            </a:srgbClr>
          </a:solidFill>
          <a:ln w="12700">
            <a:solidFill>
              <a:srgbClr val="C8F5E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5400" b="1" noProof="0" dirty="0" err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Focuss</a:t>
            </a:r>
            <a:endParaRPr lang="es-PE" sz="5400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estudio y productividad personal</a:t>
            </a:r>
            <a:endParaRPr lang="es-PE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1097280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</a:t>
            </a:r>
            <a:endParaRPr lang="es-PE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s-PE" sz="13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Desarrollo Web</a:t>
            </a:r>
            <a:endParaRPr lang="es-PE" sz="1300" noProof="0" dirty="0"/>
          </a:p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</a:t>
            </a:r>
            <a:endParaRPr lang="es-PE" sz="1300" noProof="0" dirty="0"/>
          </a:p>
          <a:p>
            <a:pPr marL="0" indent="0">
              <a:buNone/>
            </a:pPr>
            <a:r>
              <a:rPr lang="es-PE" sz="13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Leyva Sosa</a:t>
            </a:r>
            <a:endParaRPr lang="es-PE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457200"/>
            <a:ext cx="2743200" cy="4206240"/>
          </a:xfrm>
          <a:prstGeom prst="rect">
            <a:avLst/>
          </a:prstGeom>
          <a:solidFill>
            <a:srgbClr val="1A1A1A">
              <a:alpha val="95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1" name="Text 9"/>
          <p:cNvSpPr/>
          <p:nvPr/>
        </p:nvSpPr>
        <p:spPr>
          <a:xfrm>
            <a:off x="6217920" y="7315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6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s-PE" sz="1600" noProof="0" dirty="0"/>
          </a:p>
          <a:p>
            <a:pPr marL="0" indent="0" algn="ctr">
              <a:buNone/>
            </a:pPr>
            <a:r>
              <a:rPr lang="es-PE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s-PE" sz="1600" noProof="0" dirty="0"/>
          </a:p>
          <a:p>
            <a:pPr marL="0" indent="0" algn="ctr">
              <a:buNone/>
            </a:pPr>
            <a:r>
              <a:rPr lang="es-PE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</a:t>
            </a:r>
            <a:endParaRPr lang="es-PE" sz="1600" noProof="0" dirty="0"/>
          </a:p>
          <a:p>
            <a:pPr marL="0" indent="0" algn="ctr">
              <a:buNone/>
            </a:pPr>
            <a:r>
              <a:rPr lang="es-PE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s-PE" sz="1600" noProof="0" dirty="0"/>
          </a:p>
          <a:p>
            <a:pPr marL="0" indent="0" algn="ctr">
              <a:buNone/>
            </a:pPr>
            <a:r>
              <a:rPr lang="es-PE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s-PE" sz="1600" noProof="0" dirty="0"/>
          </a:p>
          <a:p>
            <a:pPr marL="0" indent="0" algn="ctr">
              <a:buNone/>
            </a:pPr>
            <a:r>
              <a:rPr lang="es-PE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s-PE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se logró en el Avance 3?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Integración con base de datos real</a:t>
            </a:r>
            <a:endParaRPr lang="es-PE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conectado al </a:t>
            </a:r>
            <a:r>
              <a:rPr lang="es-PE" sz="11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Spring Data JPA</a:t>
            </a:r>
            <a:endParaRPr lang="es-PE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62179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Tablas creadas automáticamente</a:t>
            </a:r>
            <a:endParaRPr lang="es-PE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621792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 usuarios, tareas y metas en </a:t>
            </a:r>
            <a:r>
              <a:rPr lang="es-PE" sz="11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focuss_db</a:t>
            </a:r>
            <a:endParaRPr lang="es-PE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4965192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Repositorios migrados a </a:t>
            </a:r>
            <a:r>
              <a:rPr lang="es-PE" sz="13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s-PE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4965192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Reemplazando las listas en memoria del avance anterior</a:t>
            </a:r>
            <a:endParaRPr lang="es-PE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64008" cy="14173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4965192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Script SQL documentado</a:t>
            </a:r>
            <a:endParaRPr lang="es-PE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4965192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</a:t>
            </a:r>
            <a:r>
              <a:rPr lang="es-PE" sz="11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focuss_db.sql</a:t>
            </a:r>
            <a:r>
              <a:rPr lang="es-PE" sz="11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carpeta scripts/</a:t>
            </a:r>
            <a:endParaRPr lang="es-PE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añadidas en el Avance 3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s-PE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s-PE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"/>
          </a:xfrm>
          <a:prstGeom prst="rect">
            <a:avLst/>
          </a:prstGeom>
          <a:solidFill>
            <a:srgbClr val="F29111"/>
          </a:solidFill>
          <a:ln w="12700">
            <a:solidFill>
              <a:srgbClr val="F29111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r>
              <a:rPr lang="es-PE" sz="12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s-PE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338328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para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la BD</a:t>
            </a:r>
            <a:endParaRPr lang="es-PE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2004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s-PE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para acceso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datos con JPA</a:t>
            </a:r>
            <a:endParaRPr lang="es-PE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320040"/>
          </a:xfrm>
          <a:prstGeom prst="rect">
            <a:avLst/>
          </a:prstGeom>
          <a:solidFill>
            <a:srgbClr val="59666C"/>
          </a:solidFill>
          <a:ln w="12700">
            <a:solidFill>
              <a:srgbClr val="59666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ORM</a:t>
            </a:r>
            <a:endParaRPr lang="es-PE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objeto-relacional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s-PE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320040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1" name="Text 19"/>
          <p:cNvSpPr/>
          <p:nvPr/>
        </p:nvSpPr>
        <p:spPr>
          <a:xfrm>
            <a:off x="33832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</a:t>
            </a:r>
            <a:endParaRPr lang="es-PE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conexiones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alto rendimiento</a:t>
            </a:r>
            <a:endParaRPr lang="es-PE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32004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5" name="Text 23"/>
          <p:cNvSpPr/>
          <p:nvPr/>
        </p:nvSpPr>
        <p:spPr>
          <a:xfrm>
            <a:off x="621792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r>
              <a:rPr lang="es-PE" sz="12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</a:t>
            </a:r>
            <a:endParaRPr lang="es-PE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6217920" y="37673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JDBC para</a:t>
            </a:r>
            <a:endParaRPr lang="es-PE" sz="1000" noProof="0" dirty="0"/>
          </a:p>
          <a:p>
            <a:pPr marL="0" indent="0">
              <a:buNone/>
            </a:pPr>
            <a:r>
              <a:rPr lang="es-PE" sz="10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Java con MySQL</a:t>
            </a:r>
            <a:endParaRPr lang="es-PE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actualizada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11680" cy="3291840"/>
          </a:xfrm>
          <a:prstGeom prst="rect">
            <a:avLst/>
          </a:prstGeom>
          <a:solidFill>
            <a:srgbClr val="EAE6FF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s-PE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s-PE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s-PE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Vanilla</a:t>
            </a:r>
            <a:endParaRPr lang="es-PE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CF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s-PE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2377440" y="2633472"/>
            <a:ext cx="822960" cy="5486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2"/>
          <p:cNvSpPr/>
          <p:nvPr/>
        </p:nvSpPr>
        <p:spPr>
          <a:xfrm>
            <a:off x="2359152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r>
              <a:rPr lang="es-PE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s-PE" sz="800" noProof="0" dirty="0"/>
          </a:p>
        </p:txBody>
      </p:sp>
      <p:sp>
        <p:nvSpPr>
          <p:cNvPr id="15" name="Text 13"/>
          <p:cNvSpPr/>
          <p:nvPr/>
        </p:nvSpPr>
        <p:spPr>
          <a:xfrm>
            <a:off x="2359152" y="2724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s-PE" sz="800" noProof="0" dirty="0"/>
          </a:p>
        </p:txBody>
      </p:sp>
      <p:sp>
        <p:nvSpPr>
          <p:cNvPr id="16" name="Shape 14"/>
          <p:cNvSpPr/>
          <p:nvPr/>
        </p:nvSpPr>
        <p:spPr>
          <a:xfrm>
            <a:off x="3291840" y="1097280"/>
            <a:ext cx="2011680" cy="3291840"/>
          </a:xfrm>
          <a:prstGeom prst="rect">
            <a:avLst/>
          </a:prstGeom>
          <a:solidFill>
            <a:srgbClr val="E8F8F5"/>
          </a:solidFill>
          <a:ln w="1905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5"/>
          <p:cNvSpPr/>
          <p:nvPr/>
        </p:nvSpPr>
        <p:spPr>
          <a:xfrm>
            <a:off x="3291840" y="1143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00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s-PE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429000" y="160020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9" name="Text 17"/>
          <p:cNvSpPr/>
          <p:nvPr/>
        </p:nvSpPr>
        <p:spPr>
          <a:xfrm>
            <a:off x="34290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s-PE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3429000" y="214884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1" name="Text 19"/>
          <p:cNvSpPr/>
          <p:nvPr/>
        </p:nvSpPr>
        <p:spPr>
          <a:xfrm>
            <a:off x="342900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s-PE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3429000" y="269748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21"/>
          <p:cNvSpPr/>
          <p:nvPr/>
        </p:nvSpPr>
        <p:spPr>
          <a:xfrm>
            <a:off x="342900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s-PE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3429000" y="3246120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D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5" name="Text 23"/>
          <p:cNvSpPr/>
          <p:nvPr/>
        </p:nvSpPr>
        <p:spPr>
          <a:xfrm>
            <a:off x="342900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s-PE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5394960" y="2633472"/>
            <a:ext cx="822960" cy="5486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7" name="Text 25"/>
          <p:cNvSpPr/>
          <p:nvPr/>
        </p:nvSpPr>
        <p:spPr>
          <a:xfrm>
            <a:off x="5376672" y="23591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8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s-PE" sz="800" noProof="0" dirty="0"/>
          </a:p>
        </p:txBody>
      </p:sp>
      <p:sp>
        <p:nvSpPr>
          <p:cNvPr id="28" name="Text 26"/>
          <p:cNvSpPr/>
          <p:nvPr/>
        </p:nvSpPr>
        <p:spPr>
          <a:xfrm>
            <a:off x="5376672" y="2724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800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s-PE" sz="800" noProof="0" dirty="0"/>
          </a:p>
        </p:txBody>
      </p:sp>
      <p:sp>
        <p:nvSpPr>
          <p:cNvPr id="29" name="Shape 27"/>
          <p:cNvSpPr/>
          <p:nvPr/>
        </p:nvSpPr>
        <p:spPr>
          <a:xfrm>
            <a:off x="6309360" y="1097280"/>
            <a:ext cx="2560320" cy="3291840"/>
          </a:xfrm>
          <a:prstGeom prst="rect">
            <a:avLst/>
          </a:prstGeom>
          <a:solidFill>
            <a:srgbClr val="E6F4F8"/>
          </a:solidFill>
          <a:ln w="19050">
            <a:solidFill>
              <a:srgbClr val="00758F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0" name="Text 28"/>
          <p:cNvSpPr/>
          <p:nvPr/>
        </p:nvSpPr>
        <p:spPr>
          <a:xfrm>
            <a:off x="630936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007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s-PE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6446520" y="16002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8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2" name="Text 30"/>
          <p:cNvSpPr/>
          <p:nvPr/>
        </p:nvSpPr>
        <p:spPr>
          <a:xfrm>
            <a:off x="64465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focuss_db</a:t>
            </a:r>
            <a:endParaRPr lang="es-PE" sz="1000" noProof="0" dirty="0"/>
          </a:p>
        </p:txBody>
      </p:sp>
      <p:sp>
        <p:nvSpPr>
          <p:cNvPr id="33" name="Shape 31"/>
          <p:cNvSpPr/>
          <p:nvPr/>
        </p:nvSpPr>
        <p:spPr>
          <a:xfrm>
            <a:off x="6446520" y="214884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8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4" name="Text 32"/>
          <p:cNvSpPr/>
          <p:nvPr/>
        </p:nvSpPr>
        <p:spPr>
          <a:xfrm>
            <a:off x="644652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usuarios</a:t>
            </a:r>
            <a:endParaRPr lang="es-PE" sz="1000" noProof="0" dirty="0"/>
          </a:p>
        </p:txBody>
      </p:sp>
      <p:sp>
        <p:nvSpPr>
          <p:cNvPr id="35" name="Shape 33"/>
          <p:cNvSpPr/>
          <p:nvPr/>
        </p:nvSpPr>
        <p:spPr>
          <a:xfrm>
            <a:off x="6446520" y="269748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8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6" name="Text 34"/>
          <p:cNvSpPr/>
          <p:nvPr/>
        </p:nvSpPr>
        <p:spPr>
          <a:xfrm>
            <a:off x="644652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tareas</a:t>
            </a:r>
            <a:endParaRPr lang="es-PE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6446520" y="32461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8E3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8" name="Text 36"/>
          <p:cNvSpPr/>
          <p:nvPr/>
        </p:nvSpPr>
        <p:spPr>
          <a:xfrm>
            <a:off x="644652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metas</a:t>
            </a:r>
            <a:endParaRPr lang="es-PE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Migración al patrón </a:t>
            </a:r>
            <a:r>
              <a:rPr lang="es-PE" sz="2800" b="1" noProof="0" dirty="0" err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JpaRepository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 — Data sintética</a:t>
            </a:r>
            <a:endParaRPr lang="es-PE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UsuarioRepository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s-PE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20939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List&lt;Usuario&gt; usuarios</a:t>
            </a:r>
            <a:endParaRPr lang="es-PE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new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s-PE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94360" y="25877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Usuario(1L, "Juan",...),</a:t>
            </a:r>
            <a:endParaRPr lang="es-PE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Usuario(2L, "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",...)</a:t>
            </a:r>
            <a:endParaRPr lang="es-PE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));</a:t>
            </a:r>
            <a:endParaRPr lang="es-PE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94360" y="35753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&lt;Usuario&gt;</a:t>
            </a:r>
            <a:endParaRPr lang="es-PE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findByEmail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email) {</a:t>
            </a:r>
            <a:endParaRPr lang="es-PE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usuarios.stream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s-PE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594360" y="43159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(...).</a:t>
            </a:r>
            <a:r>
              <a:rPr lang="es-PE" sz="900" noProof="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findFirst</a:t>
            </a: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s-PE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594360" y="45628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s-PE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594360" y="48097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PE" sz="900" noProof="0" dirty="0"/>
          </a:p>
        </p:txBody>
      </p:sp>
      <p:sp>
        <p:nvSpPr>
          <p:cNvPr id="20" name="Text 18"/>
          <p:cNvSpPr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400" b="1" noProof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PE" sz="2400" noProof="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21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 — Spring Data JPA</a:t>
            </a:r>
            <a:endParaRPr lang="es-PE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892040" y="16002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s-PE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4892040" y="18470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interface </a:t>
            </a: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UsuarioRepository</a:t>
            </a:r>
            <a:endParaRPr lang="es-PE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892040" y="209397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&lt;Usuario, Long&gt; {</a:t>
            </a:r>
            <a:endParaRPr lang="es-PE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4892040" y="234086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4892040" y="25877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&lt;Usuario&gt;</a:t>
            </a:r>
            <a:endParaRPr lang="es-PE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4892040" y="28346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PE" sz="900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findByEmail</a:t>
            </a: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email);</a:t>
            </a:r>
            <a:endParaRPr lang="es-PE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4892040" y="30815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4892040" y="33284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PE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4892040" y="35753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4892040" y="38221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genera la implementación</a:t>
            </a:r>
            <a:endParaRPr lang="es-PE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4892040" y="40690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automáticamente.</a:t>
            </a:r>
            <a:endParaRPr lang="es-PE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4892040" y="43159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 data ya no estaría guardándose en memoria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Tablas de la base de datos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s-PE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s-PE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(PK)</a:t>
            </a:r>
            <a:endParaRPr lang="es-PE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s-PE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173736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s-PE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s-PE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s-PE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s-PE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173736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s-PE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3291840" y="1097280"/>
            <a:ext cx="2743200" cy="365760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Text 16"/>
          <p:cNvSpPr/>
          <p:nvPr/>
        </p:nvSpPr>
        <p:spPr>
          <a:xfrm>
            <a:off x="329184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tareas</a:t>
            </a:r>
            <a:endParaRPr lang="es-PE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3291840" y="14630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0" name="Text 18"/>
          <p:cNvSpPr/>
          <p:nvPr/>
        </p:nvSpPr>
        <p:spPr>
          <a:xfrm>
            <a:off x="338328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s-PE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66344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(PK)</a:t>
            </a:r>
            <a:endParaRPr lang="es-PE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3291840" y="196596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3" name="Text 21"/>
          <p:cNvSpPr/>
          <p:nvPr/>
        </p:nvSpPr>
        <p:spPr>
          <a:xfrm>
            <a:off x="338328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s-PE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466344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s-PE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3291840" y="2468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6" name="Text 24"/>
          <p:cNvSpPr/>
          <p:nvPr/>
        </p:nvSpPr>
        <p:spPr>
          <a:xfrm>
            <a:off x="33832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s-PE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466344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s-PE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3291840" y="297180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29" name="Text 27"/>
          <p:cNvSpPr/>
          <p:nvPr/>
        </p:nvSpPr>
        <p:spPr>
          <a:xfrm>
            <a:off x="338328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s-PE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466344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s-PE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3291840" y="34747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2" name="Text 30"/>
          <p:cNvSpPr/>
          <p:nvPr/>
        </p:nvSpPr>
        <p:spPr>
          <a:xfrm>
            <a:off x="338328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s-PE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4663440" y="3474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(FK)</a:t>
            </a:r>
            <a:endParaRPr lang="es-PE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6217920" y="1097280"/>
            <a:ext cx="2743200" cy="36576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5" name="Text 33"/>
          <p:cNvSpPr/>
          <p:nvPr/>
        </p:nvSpPr>
        <p:spPr>
          <a:xfrm>
            <a:off x="62179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</a:t>
            </a:r>
            <a:endParaRPr lang="es-PE" sz="1200" noProof="0" dirty="0"/>
          </a:p>
        </p:txBody>
      </p:sp>
      <p:sp>
        <p:nvSpPr>
          <p:cNvPr id="36" name="Shape 34"/>
          <p:cNvSpPr/>
          <p:nvPr/>
        </p:nvSpPr>
        <p:spPr>
          <a:xfrm>
            <a:off x="6217920" y="14630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7" name="Text 35"/>
          <p:cNvSpPr/>
          <p:nvPr/>
        </p:nvSpPr>
        <p:spPr>
          <a:xfrm>
            <a:off x="63093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s-PE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758952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(PK)</a:t>
            </a:r>
            <a:endParaRPr lang="es-PE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6217920" y="196596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0" name="Text 38"/>
          <p:cNvSpPr/>
          <p:nvPr/>
        </p:nvSpPr>
        <p:spPr>
          <a:xfrm>
            <a:off x="630936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s-PE" sz="1000" noProof="0" dirty="0"/>
          </a:p>
        </p:txBody>
      </p:sp>
      <p:sp>
        <p:nvSpPr>
          <p:cNvPr id="41" name="Text 39"/>
          <p:cNvSpPr/>
          <p:nvPr/>
        </p:nvSpPr>
        <p:spPr>
          <a:xfrm>
            <a:off x="7589520" y="1965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s-PE" sz="900" noProof="0" dirty="0"/>
          </a:p>
        </p:txBody>
      </p:sp>
      <p:sp>
        <p:nvSpPr>
          <p:cNvPr id="42" name="Shape 40"/>
          <p:cNvSpPr/>
          <p:nvPr/>
        </p:nvSpPr>
        <p:spPr>
          <a:xfrm>
            <a:off x="6217920" y="2468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3" name="Text 41"/>
          <p:cNvSpPr/>
          <p:nvPr/>
        </p:nvSpPr>
        <p:spPr>
          <a:xfrm>
            <a:off x="630936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progreso</a:t>
            </a:r>
            <a:endParaRPr lang="es-PE" sz="1000" noProof="0" dirty="0"/>
          </a:p>
        </p:txBody>
      </p:sp>
      <p:sp>
        <p:nvSpPr>
          <p:cNvPr id="44" name="Text 42"/>
          <p:cNvSpPr/>
          <p:nvPr/>
        </p:nvSpPr>
        <p:spPr>
          <a:xfrm>
            <a:off x="75895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s-PE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6217920" y="297180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6" name="Text 44"/>
          <p:cNvSpPr/>
          <p:nvPr/>
        </p:nvSpPr>
        <p:spPr>
          <a:xfrm>
            <a:off x="6309360" y="2971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b="1" noProof="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s-PE" sz="1000" noProof="0" dirty="0"/>
          </a:p>
        </p:txBody>
      </p:sp>
      <p:sp>
        <p:nvSpPr>
          <p:cNvPr id="47" name="Text 45"/>
          <p:cNvSpPr/>
          <p:nvPr/>
        </p:nvSpPr>
        <p:spPr>
          <a:xfrm>
            <a:off x="758952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900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(FK)</a:t>
            </a:r>
            <a:endParaRPr lang="es-PE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 SQL — scripts/</a:t>
            </a:r>
            <a:r>
              <a:rPr lang="es-PE" sz="2800" b="1" noProof="0" dirty="0" err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focuss_db.sql</a:t>
            </a:r>
            <a:endParaRPr lang="es-PE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sirve?</a:t>
            </a:r>
            <a:endParaRPr lang="es-PE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PE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987552" y="17190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estructura de la BD</a:t>
            </a:r>
            <a:endParaRPr lang="es-PE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594360" y="2414016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PE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recrear las tablas desde cero</a:t>
            </a:r>
            <a:endParaRPr lang="es-PE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" y="3072384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PE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987552" y="3035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data de prueba para los 2 usuarios</a:t>
            </a:r>
            <a:endParaRPr lang="es-PE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594360" y="3730752"/>
            <a:ext cx="292608" cy="29260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3"/>
          <p:cNvSpPr/>
          <p:nvPr/>
        </p:nvSpPr>
        <p:spPr>
          <a:xfrm>
            <a:off x="5943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PE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987552" y="369417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0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con la estructura /scripts requerida</a:t>
            </a:r>
            <a:endParaRPr lang="es-PE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9768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b="1" noProof="0" dirty="0" err="1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focuss_db.sql</a:t>
            </a:r>
            <a:endParaRPr lang="es-PE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4709160" y="16459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IF NOT EXISTS </a:t>
            </a:r>
            <a:r>
              <a:rPr lang="es-PE" sz="850" noProof="0" dirty="0" err="1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focuss_db</a:t>
            </a: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s-PE" sz="850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189280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s-PE" sz="850" noProof="0" dirty="0" err="1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focuss_db</a:t>
            </a: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s-PE" sz="850" noProof="0" dirty="0"/>
          </a:p>
        </p:txBody>
      </p:sp>
      <p:sp>
        <p:nvSpPr>
          <p:cNvPr id="21" name="Text 19"/>
          <p:cNvSpPr/>
          <p:nvPr/>
        </p:nvSpPr>
        <p:spPr>
          <a:xfrm>
            <a:off x="4709160" y="213969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850" noProof="0" dirty="0"/>
          </a:p>
        </p:txBody>
      </p:sp>
      <p:sp>
        <p:nvSpPr>
          <p:cNvPr id="22" name="Text 20"/>
          <p:cNvSpPr/>
          <p:nvPr/>
        </p:nvSpPr>
        <p:spPr>
          <a:xfrm>
            <a:off x="4709160" y="238658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usuarios (</a:t>
            </a:r>
            <a:endParaRPr lang="es-PE" sz="850" noProof="0" dirty="0"/>
          </a:p>
        </p:txBody>
      </p:sp>
      <p:sp>
        <p:nvSpPr>
          <p:cNvPr id="23" name="Text 21"/>
          <p:cNvSpPr/>
          <p:nvPr/>
        </p:nvSpPr>
        <p:spPr>
          <a:xfrm>
            <a:off x="4709160" y="26334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BIGINT AUTO_INCREMENT,</a:t>
            </a:r>
            <a:endParaRPr lang="es-PE" sz="850" noProof="0" dirty="0"/>
          </a:p>
        </p:txBody>
      </p:sp>
      <p:sp>
        <p:nvSpPr>
          <p:cNvPr id="24" name="Text 22"/>
          <p:cNvSpPr/>
          <p:nvPr/>
        </p:nvSpPr>
        <p:spPr>
          <a:xfrm>
            <a:off x="4709160" y="28803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VARCHAR(255),</a:t>
            </a:r>
            <a:endParaRPr lang="es-PE" sz="850" noProof="0" dirty="0"/>
          </a:p>
        </p:txBody>
      </p:sp>
      <p:sp>
        <p:nvSpPr>
          <p:cNvPr id="25" name="Text 23"/>
          <p:cNvSpPr/>
          <p:nvPr/>
        </p:nvSpPr>
        <p:spPr>
          <a:xfrm>
            <a:off x="4709160" y="312724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VARCHAR(255),</a:t>
            </a:r>
            <a:endParaRPr lang="es-PE" sz="850" noProof="0" dirty="0"/>
          </a:p>
        </p:txBody>
      </p:sp>
      <p:sp>
        <p:nvSpPr>
          <p:cNvPr id="26" name="Text 24"/>
          <p:cNvSpPr/>
          <p:nvPr/>
        </p:nvSpPr>
        <p:spPr>
          <a:xfrm>
            <a:off x="4709160" y="33741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(id)</a:t>
            </a:r>
            <a:endParaRPr lang="es-PE" sz="850" noProof="0" dirty="0"/>
          </a:p>
        </p:txBody>
      </p:sp>
      <p:sp>
        <p:nvSpPr>
          <p:cNvPr id="27" name="Text 25"/>
          <p:cNvSpPr/>
          <p:nvPr/>
        </p:nvSpPr>
        <p:spPr>
          <a:xfrm>
            <a:off x="4709160" y="36210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s-PE" sz="850" noProof="0" dirty="0"/>
          </a:p>
        </p:txBody>
      </p:sp>
      <p:sp>
        <p:nvSpPr>
          <p:cNvPr id="28" name="Text 26"/>
          <p:cNvSpPr/>
          <p:nvPr/>
        </p:nvSpPr>
        <p:spPr>
          <a:xfrm>
            <a:off x="4709160" y="386791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PE" sz="850" noProof="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00C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usuarios VALUES</a:t>
            </a:r>
            <a:endParaRPr lang="es-PE" sz="850" noProof="0" dirty="0"/>
          </a:p>
        </p:txBody>
      </p:sp>
      <p:sp>
        <p:nvSpPr>
          <p:cNvPr id="30" name="Text 28"/>
          <p:cNvSpPr/>
          <p:nvPr/>
        </p:nvSpPr>
        <p:spPr>
          <a:xfrm>
            <a:off x="4709160" y="436168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8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(1,'Juan','juan@email.com',...);</a:t>
            </a:r>
            <a:endParaRPr lang="es-PE" sz="8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5CE7">
              <a:alpha val="25000"/>
            </a:srgbClr>
          </a:solidFill>
          <a:ln w="12700">
            <a:solidFill>
              <a:srgbClr val="6C5CE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0CBA9">
              <a:alpha val="20000"/>
            </a:srgbClr>
          </a:solidFill>
          <a:ln w="12700">
            <a:solidFill>
              <a:srgbClr val="00CBA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4400" b="1" noProof="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Focuss</a:t>
            </a:r>
            <a:r>
              <a:rPr lang="es-PE" sz="4400" b="1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App</a:t>
            </a:r>
            <a:endParaRPr lang="es-PE" sz="44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cambio añadidos en este tercer avance</a:t>
            </a:r>
            <a:endParaRPr lang="es-PE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2560320" y="28803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5"/>
          <p:cNvSpPr/>
          <p:nvPr/>
        </p:nvSpPr>
        <p:spPr>
          <a:xfrm>
            <a:off x="2560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292608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 integrada</a:t>
            </a:r>
            <a:endParaRPr lang="es-PE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560320" y="33375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8"/>
          <p:cNvSpPr/>
          <p:nvPr/>
        </p:nvSpPr>
        <p:spPr>
          <a:xfrm>
            <a:off x="25603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292608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con </a:t>
            </a:r>
            <a:r>
              <a:rPr lang="es-PE" sz="12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s-PE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2560320" y="3794760"/>
            <a:ext cx="256032" cy="256032"/>
          </a:xfrm>
          <a:prstGeom prst="rect">
            <a:avLst/>
          </a:prstGeom>
          <a:solidFill>
            <a:srgbClr val="00CBA9"/>
          </a:solidFill>
          <a:ln w="12700">
            <a:solidFill>
              <a:srgbClr val="00CBA9"/>
            </a:solidFill>
            <a:prstDash val="solid"/>
          </a:ln>
        </p:spPr>
        <p:txBody>
          <a:bodyPr/>
          <a:lstStyle/>
          <a:p>
            <a:endParaRPr lang="es-PE" noProof="0" dirty="0"/>
          </a:p>
        </p:txBody>
      </p:sp>
      <p:sp>
        <p:nvSpPr>
          <p:cNvPr id="13" name="Text 11"/>
          <p:cNvSpPr/>
          <p:nvPr/>
        </p:nvSpPr>
        <p:spPr>
          <a:xfrm>
            <a:off x="256032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PE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292608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documentado en /scripts</a:t>
            </a:r>
            <a:endParaRPr lang="es-PE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527</Words>
  <Application>Microsoft Office PowerPoint</Application>
  <PresentationFormat>Presentación en pantalla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Focuss App — Avance 3</dc:title>
  <dc:subject>PptxGenJS Presentation</dc:subject>
  <dc:creator>Jeffrey Leyva Sosa</dc:creator>
  <cp:lastModifiedBy>ALUMNO - JEFFREY WILLIAM LEYVA SOSA</cp:lastModifiedBy>
  <cp:revision>3</cp:revision>
  <dcterms:created xsi:type="dcterms:W3CDTF">2026-06-16T03:37:17Z</dcterms:created>
  <dcterms:modified xsi:type="dcterms:W3CDTF">2026-06-16T03:45:47Z</dcterms:modified>
</cp:coreProperties>
</file>